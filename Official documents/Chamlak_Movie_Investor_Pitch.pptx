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&quot;$&quot;0.00&quot;M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6F2F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0.24</c:v>
                </c:pt>
                <c:pt idx="1">
                  <c:v>1.05</c:v>
                </c:pt>
                <c:pt idx="2">
                  <c:v>3.3</c:v>
                </c:pt>
              </c:numCache>
            </c:numRef>
          </c:val>
        </c:ser>
        <c:dLbls>
          <c:numFmt formatCode="&quot;$&quot;0.00&quot;M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F6F2F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9A9D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2A93B"/>
              </a:solidFill>
              <a:effectLst/>
            </c:spPr>
          </c:dPt>
          <c:dPt>
            <c:idx val="1"/>
            <c:bubble3D val="0"/>
            <c:spPr>
              <a:solidFill>
                <a:srgbClr val="FFC24B"/>
              </a:solidFill>
              <a:effectLst/>
            </c:spPr>
          </c:dPt>
          <c:dPt>
            <c:idx val="2"/>
            <c:bubble3D val="0"/>
            <c:spPr>
              <a:solidFill>
                <a:srgbClr val="8E7BC9"/>
              </a:solidFill>
              <a:effectLst/>
            </c:spPr>
          </c:dPt>
          <c:dPt>
            <c:idx val="3"/>
            <c:bubble3D val="0"/>
            <c:spPr>
              <a:solidFill>
                <a:srgbClr val="5E4B8B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1B1035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1B1035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1B1035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1B1035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Content licensing &amp; voice-over</c:v>
                </c:pt>
                <c:pt idx="1">
                  <c:v>Marketing &amp; user acquisition</c:v>
                </c:pt>
                <c:pt idx="2">
                  <c:v>Product &amp; technology</c:v>
                </c:pt>
                <c:pt idx="3">
                  <c:v>Team &amp; operations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50">
              <a:solidFill>
                <a:srgbClr val="F6F2F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Chamlak Movie — a mobile streaming app delivering licensed films and short dramas dubbed into high-quality Khmer voice-over, monetised through subscriptions and credits. Founders: AEK and CHAMNAB. Replace the play-button motif with your real logo when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Global short-drama IAP revenue hit $2.98B in 2025 (+115% YoY) — one of the fastest-growing app categories Sensor Tower tracks — with Deloitte forecasting $7–8B in 2026. In Q4 2025 short-drama downloads overtook traditional streaming (733M vs 658M). Cambodia now has 12.0M internet users (67% penetration, DataReportal Digital 2026). No dominant Khmer-language player exists — that is our opening.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linked problems: a language wall, piracy/fragmentation, and the absence of any local premium option. Each is a reason viewers cannot pay for a great Khmer experience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pillars: (1) legal licensed catalogue, (2) professional Khmer voice-over as the core differentiator, (3) app-exclusive full content to protect value and drive subs, (4) local-first monetisation via subscription + credits.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repeatable five-step pipeline: license → Khmer voice-over → QC → app-exclusive publish → monetise. The studio pipeline is the operational core of the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Roughly 80–90% of international short-drama releases are dubbed/translated — time-sync voice-over is the accepted SEA convention. Being first in Khmer plus local operations is our defensibility.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Chamlak Movie is the film &amp; streaming division of CHAMLAK (chamlak.com), one of four pillars with CHAMLAK AI, CHAMLAK MEDIA and CHAMLAK MUSIC. The group gives the app in-house surround sound, AI localization/production tools and distribution. Investors' interest is scoped to the Chamlak Movie project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 = 12.0M Cambodian internet users. SAM = ~5M mobile drama/video watchers (internal estimate). SOM = 180K paying users by year 3, under 4% of the serviceable market — deliberately conservative.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complementary revenue lines — subscriptions (recurring), credits (pay-per-view), all through local wallets and telco billing. An ad-supported free tier is optional upside layered on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Bilingual VIP pricing ladder from the VIP pricing strategy doc: $0.99 trial, $4.99 weekly, $9.99/mo (Most Popular), $30.99/yr (Best Value), $50.99/yr Pro (4 devices), $70.99/yr Plus (family). Coin wallet: 100 coins = 2 eps ($0.99), 300 coins = 6 eps ($1.99). Payments via KHQR, ABA, Wing and card. Highlight Monthly and Annual for conversion. Ensure VIP Plus carries real benefits beyond VIP Pro before publishing.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figures are ILLUSTRATIVE and must be replaced with your own assumptions before sending to investors. Model logic: average paying users during the year × blended monthly ARPU (~$2.50) × 12. Ad revenue excluded to stay conservative.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Chamlak is the only option combining Khmer voice-over, local pricing/payments, a legal catalogue, premium UX, and a Cambodia-first design. Global apps lack Khmer and local payments; pirates lack legality and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nuance: we DO market on social media (trailers, clips, influencer buzz) but NEVER post full titles there. Content stays app-exclusive to protect licensing value and push subscriptions.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phases from build/beta to category leadership, with user milestones (15K → 60K → 180K) mapped onto the financial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placeholders with real founders (AEK and CHAMNAB), photos and credentials. If you have advisors, licensing partners or notable early hires, add them — they de-risk the bet for investors.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your target raise amount and adjust the allocation to match your plan. The buckets shown (40% content/voice-over, 25% marketing, 20% product, 15% team/ops) are a sensible starting point for a content + app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conviction and your real contact details. The two-line vision should be the one thing an investor remembers.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2.xml"/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7680960" y="1554480"/>
            <a:ext cx="3840480" cy="3840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1051560"/>
            <a:ext cx="1051560" cy="1051560"/>
          </a:xfrm>
          <a:prstGeom prst="roundRect">
            <a:avLst>
              <a:gd name="adj" fmla="val 13913"/>
            </a:avLst>
          </a:prstGeom>
          <a:solidFill>
            <a:srgbClr val="F2A93B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1371600"/>
            <a:ext cx="457200" cy="411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04672" y="2514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CHAMLAK MOVIE</a:t>
            </a:r>
            <a:endParaRPr lang="en-US" sz="5400" dirty="0"/>
          </a:p>
        </p:txBody>
      </p:sp>
      <p:sp>
        <p:nvSpPr>
          <p:cNvPr id="6" name="Text 2"/>
          <p:cNvSpPr/>
          <p:nvPr/>
        </p:nvSpPr>
        <p:spPr>
          <a:xfrm>
            <a:off x="822960" y="361188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Cambodia's premium streaming app for films &amp; short dramas — fully voiced over in high-quality Khmer.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822960" y="4617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CHAMLAK venture</a:t>
            </a:r>
            <a:pPr indent="0" marL="0">
              <a:buNone/>
            </a:pPr>
            <a:r>
              <a:rPr lang="en-US" sz="1400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chamlak.com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22960" y="5212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</a:t>
            </a:r>
            <a:pPr indent="0" marL="0">
              <a:buNone/>
            </a:pPr>
            <a:r>
              <a:rPr lang="en-US" sz="1600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Seed Round ·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waves are colliding in our favour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26030" cy="3246120"/>
          </a:xfrm>
          <a:prstGeom prst="roundRect">
            <a:avLst>
              <a:gd name="adj" fmla="val 3620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12848"/>
            <a:ext cx="658368" cy="65836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136" y="2384024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999232"/>
            <a:ext cx="20688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$2.98B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804672" y="3703320"/>
            <a:ext cx="20688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6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short-drama in-app revenue in 2025 — up 115% year on year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04672" y="4782312"/>
            <a:ext cx="2068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Tower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94710" y="1920240"/>
            <a:ext cx="2526030" cy="3246120"/>
          </a:xfrm>
          <a:prstGeom prst="roundRect">
            <a:avLst>
              <a:gd name="adj" fmla="val 3620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69030" y="2212848"/>
            <a:ext cx="658368" cy="65836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206" y="2384024"/>
            <a:ext cx="316017" cy="31601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0742" y="2999232"/>
            <a:ext cx="20688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$7–8B</a:t>
            </a:r>
            <a:endParaRPr lang="en-US" sz="3300" dirty="0"/>
          </a:p>
        </p:txBody>
      </p:sp>
      <p:sp>
        <p:nvSpPr>
          <p:cNvPr id="14" name="Text 10"/>
          <p:cNvSpPr/>
          <p:nvPr/>
        </p:nvSpPr>
        <p:spPr>
          <a:xfrm>
            <a:off x="3650742" y="3703320"/>
            <a:ext cx="20688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6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size of the global short-drama market in 2026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650742" y="4782312"/>
            <a:ext cx="2068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240780" y="1920240"/>
            <a:ext cx="2526030" cy="3246120"/>
          </a:xfrm>
          <a:prstGeom prst="roundRect">
            <a:avLst>
              <a:gd name="adj" fmla="val 3620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15100" y="2212848"/>
            <a:ext cx="658368" cy="65836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276" y="2384024"/>
            <a:ext cx="316017" cy="31601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96812" y="2999232"/>
            <a:ext cx="20688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12.0M</a:t>
            </a:r>
            <a:endParaRPr lang="en-US" sz="3300" dirty="0"/>
          </a:p>
        </p:txBody>
      </p:sp>
      <p:sp>
        <p:nvSpPr>
          <p:cNvPr id="20" name="Text 15"/>
          <p:cNvSpPr/>
          <p:nvPr/>
        </p:nvSpPr>
        <p:spPr>
          <a:xfrm>
            <a:off x="6496812" y="3703320"/>
            <a:ext cx="20688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6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users in Cambodia — 67% of the population, and climbing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496812" y="4782312"/>
            <a:ext cx="2068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DataReportal 2026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9086850" y="1920240"/>
            <a:ext cx="2526030" cy="3246120"/>
          </a:xfrm>
          <a:prstGeom prst="roundRect">
            <a:avLst>
              <a:gd name="adj" fmla="val 3620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361170" y="2212848"/>
            <a:ext cx="658368" cy="65836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2346" y="2384024"/>
            <a:ext cx="316017" cy="31601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42882" y="2999232"/>
            <a:ext cx="20688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300" dirty="0"/>
          </a:p>
        </p:txBody>
      </p:sp>
      <p:sp>
        <p:nvSpPr>
          <p:cNvPr id="26" name="Text 20"/>
          <p:cNvSpPr/>
          <p:nvPr/>
        </p:nvSpPr>
        <p:spPr>
          <a:xfrm>
            <a:off x="9342882" y="3703320"/>
            <a:ext cx="20688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6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Khmer-language premium streaming apps exist today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9342882" y="4782312"/>
            <a:ext cx="2068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scan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short-drama model has proven that people will pay for mobile-first, snackable, emotionally-charged stories. That behaviour is now arriving in a mobile-saturated Cambodia — in a language nobody is serving well.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CHAMLAK MOVIE</a:t>
            </a:r>
            <a:pPr algn="l" indent="0" marL="0">
              <a:buNone/>
            </a:pPr>
            <a:r>
              <a:rPr lang="en-US" sz="900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Pitch   ·   Confidential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Cambodian viewers are hungry — and underserved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44240" cy="3291840"/>
          </a:xfrm>
          <a:prstGeom prst="roundRect">
            <a:avLst>
              <a:gd name="adj" fmla="val 2778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13432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" y="2503627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00400"/>
            <a:ext cx="280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language wall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749040"/>
            <a:ext cx="280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apps like DramaBox and ReelShort serve English and Chinese. Most Cambodians can't enjoy them fully — subtitles are tiring and exclude older and rural audiences.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58640" y="1965960"/>
            <a:ext cx="3444240" cy="3291840"/>
          </a:xfrm>
          <a:prstGeom prst="roundRect">
            <a:avLst>
              <a:gd name="adj" fmla="val 2778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78680" y="2313432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8875" y="2503627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78680" y="3200400"/>
            <a:ext cx="280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Piracy &amp; fragmentation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78680" y="3749040"/>
            <a:ext cx="280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scattered across social feeds and pirate sites — poor quality, no reliable catalogue, and no safe, legal, premium place to watch.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68640" y="1965960"/>
            <a:ext cx="3444240" cy="3291840"/>
          </a:xfrm>
          <a:prstGeom prst="roundRect">
            <a:avLst>
              <a:gd name="adj" fmla="val 2778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88680" y="2313432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8875" y="2503627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88680" y="3200400"/>
            <a:ext cx="280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local premium option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88680" y="3749040"/>
            <a:ext cx="280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trusted, mobile-first, Khmer-native streaming brand with local pricing and the payment methods Cambodians actually use.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demand is already here. What's missing is a product built for Cambodia, in Khmer, that people can pay for easily.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CHAMLAK MOVIE</a:t>
            </a:r>
            <a:pPr algn="l" indent="0" marL="0">
              <a:buNone/>
            </a:pPr>
            <a:r>
              <a:rPr lang="en-US" sz="900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Pitch   ·   Confidential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Chamlak Movie — licensed stories, spoken in Khmer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249424"/>
            <a:ext cx="713232" cy="713232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688" y="2434864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21284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Licensed, legal catalogue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783080" y="2670048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license films and short dramas from suppliers worldwide — a growing, high-quality library with none of the legal risk of piracy.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92024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56248" y="2249424"/>
            <a:ext cx="713232" cy="713232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1688" y="2434864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21284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High-quality Khmer voice-over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498080" y="2670048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title is professionally voiced over in Khmer before it goes live — the emotional, native experience audiences actually want.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" y="4398264"/>
            <a:ext cx="713232" cy="713232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688" y="4583704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3616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App-exclusive content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783080" y="4818888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titles live only inside our app — never given away on social feeds. This protects licensing value and drives subscriptions.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406908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56248" y="4398264"/>
            <a:ext cx="713232" cy="713232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1688" y="4583704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43616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Flexible local monetization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498080" y="4818888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and monthly subscriptions plus a credit / coin model — priced for Cambodia and paid via the wallets people already use.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CHAMLAK MOVIE</a:t>
            </a:r>
            <a:pPr algn="l" indent="0" marL="0">
              <a:buNone/>
            </a:pPr>
            <a:r>
              <a:rPr lang="en-US" sz="900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Pitch   ·   Confidential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license to living-room, in one clean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993392" cy="2743200"/>
          </a:xfrm>
          <a:prstGeom prst="roundRect">
            <a:avLst>
              <a:gd name="adj" fmla="val 4587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4168" y="1947672"/>
            <a:ext cx="402336" cy="402336"/>
          </a:xfrm>
          <a:prstGeom prst="ellipse">
            <a:avLst/>
          </a:prstGeom>
          <a:solidFill>
            <a:srgbClr val="F2A93B"/>
          </a:solidFill>
          <a:ln w="25400">
            <a:solidFill>
              <a:srgbClr val="1B10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44168" y="1947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61288" y="2651760"/>
            <a:ext cx="768096" cy="768096"/>
          </a:xfrm>
          <a:prstGeom prst="ellipse">
            <a:avLst/>
          </a:prstGeom>
          <a:solidFill>
            <a:srgbClr val="3A2A6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0993" y="2851465"/>
            <a:ext cx="368686" cy="36868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5661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License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76656" y="395935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rights from global content suppliers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496312" y="30632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2816352" y="2148840"/>
            <a:ext cx="1993392" cy="2743200"/>
          </a:xfrm>
          <a:prstGeom prst="roundRect">
            <a:avLst>
              <a:gd name="adj" fmla="val 4587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11880" y="1947672"/>
            <a:ext cx="402336" cy="402336"/>
          </a:xfrm>
          <a:prstGeom prst="ellipse">
            <a:avLst/>
          </a:prstGeom>
          <a:solidFill>
            <a:srgbClr val="F2A93B"/>
          </a:solidFill>
          <a:ln w="25400">
            <a:solidFill>
              <a:srgbClr val="1B10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11880" y="1947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429000" y="2651760"/>
            <a:ext cx="768096" cy="768096"/>
          </a:xfrm>
          <a:prstGeom prst="ellipse">
            <a:avLst/>
          </a:prstGeom>
          <a:solidFill>
            <a:srgbClr val="3A2A63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705" y="2851465"/>
            <a:ext cx="368686" cy="36868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907792" y="35661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Voice-over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2944368" y="395935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Khmer dub in our studio pipeline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764024" y="30632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0" name="Shape 16"/>
          <p:cNvSpPr/>
          <p:nvPr/>
        </p:nvSpPr>
        <p:spPr>
          <a:xfrm>
            <a:off x="5084064" y="2148840"/>
            <a:ext cx="1993392" cy="2743200"/>
          </a:xfrm>
          <a:prstGeom prst="roundRect">
            <a:avLst>
              <a:gd name="adj" fmla="val 4587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879592" y="1947672"/>
            <a:ext cx="402336" cy="402336"/>
          </a:xfrm>
          <a:prstGeom prst="ellipse">
            <a:avLst/>
          </a:prstGeom>
          <a:solidFill>
            <a:srgbClr val="F2A93B"/>
          </a:solidFill>
          <a:ln w="25400">
            <a:solidFill>
              <a:srgbClr val="1B103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79592" y="1947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5696712" y="2651760"/>
            <a:ext cx="768096" cy="768096"/>
          </a:xfrm>
          <a:prstGeom prst="ellipse">
            <a:avLst/>
          </a:prstGeom>
          <a:solidFill>
            <a:srgbClr val="3A2A63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417" y="2851465"/>
            <a:ext cx="368686" cy="36868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175504" y="35661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check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5212080" y="395935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sync, clarity &amp; cultural review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7031736" y="30632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8" name="Shape 23"/>
          <p:cNvSpPr/>
          <p:nvPr/>
        </p:nvSpPr>
        <p:spPr>
          <a:xfrm>
            <a:off x="7351776" y="2148840"/>
            <a:ext cx="1993392" cy="2743200"/>
          </a:xfrm>
          <a:prstGeom prst="roundRect">
            <a:avLst>
              <a:gd name="adj" fmla="val 4587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8147304" y="1947672"/>
            <a:ext cx="402336" cy="402336"/>
          </a:xfrm>
          <a:prstGeom prst="ellipse">
            <a:avLst/>
          </a:prstGeom>
          <a:solidFill>
            <a:srgbClr val="F2A93B"/>
          </a:solidFill>
          <a:ln w="25400">
            <a:solidFill>
              <a:srgbClr val="1B1035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147304" y="1947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Shape 26"/>
          <p:cNvSpPr/>
          <p:nvPr/>
        </p:nvSpPr>
        <p:spPr>
          <a:xfrm>
            <a:off x="7964424" y="2651760"/>
            <a:ext cx="768096" cy="768096"/>
          </a:xfrm>
          <a:prstGeom prst="ellipse">
            <a:avLst/>
          </a:prstGeom>
          <a:solidFill>
            <a:srgbClr val="3A2A63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4129" y="2851465"/>
            <a:ext cx="368686" cy="36868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43216" y="35661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7479792" y="395935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app-exclusive, in high quality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9299448" y="30632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6" name="Shape 30"/>
          <p:cNvSpPr/>
          <p:nvPr/>
        </p:nvSpPr>
        <p:spPr>
          <a:xfrm>
            <a:off x="9619488" y="2148840"/>
            <a:ext cx="1993392" cy="2743200"/>
          </a:xfrm>
          <a:prstGeom prst="roundRect">
            <a:avLst>
              <a:gd name="adj" fmla="val 4587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10415016" y="1947672"/>
            <a:ext cx="402336" cy="402336"/>
          </a:xfrm>
          <a:prstGeom prst="ellipse">
            <a:avLst/>
          </a:prstGeom>
          <a:solidFill>
            <a:srgbClr val="F2A93B"/>
          </a:solidFill>
          <a:ln w="25400">
            <a:solidFill>
              <a:srgbClr val="1B1035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10415016" y="1947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Shape 33"/>
          <p:cNvSpPr/>
          <p:nvPr/>
        </p:nvSpPr>
        <p:spPr>
          <a:xfrm>
            <a:off x="10232136" y="2651760"/>
            <a:ext cx="768096" cy="768096"/>
          </a:xfrm>
          <a:prstGeom prst="ellipse">
            <a:avLst/>
          </a:prstGeom>
          <a:solidFill>
            <a:srgbClr val="3A2A63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1841" y="2851465"/>
            <a:ext cx="368686" cy="368686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710928" y="35661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Monetize</a:t>
            </a:r>
            <a:endParaRPr lang="en-US" sz="1500" dirty="0"/>
          </a:p>
        </p:txBody>
      </p:sp>
      <p:sp>
        <p:nvSpPr>
          <p:cNvPr id="42" name="Text 35"/>
          <p:cNvSpPr/>
          <p:nvPr/>
        </p:nvSpPr>
        <p:spPr>
          <a:xfrm>
            <a:off x="9747504" y="395935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&amp; credits unlock the catalogue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Time-synced Khmer voice-over is exactly the localization method the industry recommends for Southeast Asia — proven, fast to produce, and loved by audiences.</a:t>
            </a:r>
            <a:endParaRPr lang="en-US" sz="1350" dirty="0"/>
          </a:p>
        </p:txBody>
      </p:sp>
      <p:sp>
        <p:nvSpPr>
          <p:cNvPr id="44" name="Text 3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CHAMLAK MOVIE</a:t>
            </a:r>
            <a:pPr algn="l" indent="0" marL="0">
              <a:buNone/>
            </a:pPr>
            <a:r>
              <a:rPr lang="en-US" sz="900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Pitch   ·   Confidential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ADVANTAGE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Khmer voice-over is the moat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937760" cy="3566160"/>
          </a:xfrm>
          <a:prstGeom prst="roundRect">
            <a:avLst>
              <a:gd name="adj" fmla="val 2564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423160" y="2331720"/>
            <a:ext cx="1188720" cy="11887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2227" y="2640787"/>
            <a:ext cx="570586" cy="5705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8404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catalogue can be copied.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43434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trusted Khmer voice, a studio pipeline, and a first-mover brand cannot be copied overnight.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852160" y="1965960"/>
            <a:ext cx="5760720" cy="1078992"/>
          </a:xfrm>
          <a:prstGeom prst="roundRect">
            <a:avLst>
              <a:gd name="adj" fmla="val 8475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172200" y="2075688"/>
            <a:ext cx="1737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80–90%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001000" y="2075688"/>
            <a:ext cx="3383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6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international short-drama releases are dubbed or translated versions — localization is the #1 growth lever, not a nice-to-have.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852160" y="3209544"/>
            <a:ext cx="5760720" cy="1078992"/>
          </a:xfrm>
          <a:prstGeom prst="roundRect">
            <a:avLst>
              <a:gd name="adj" fmla="val 8475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172200" y="3319272"/>
            <a:ext cx="1737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1st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8001000" y="3319272"/>
            <a:ext cx="3383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6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in Khmer premium streaming — the first credible brand in a language tends to own the category.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852160" y="4453128"/>
            <a:ext cx="5760720" cy="1078992"/>
          </a:xfrm>
          <a:prstGeom prst="roundRect">
            <a:avLst>
              <a:gd name="adj" fmla="val 8475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172200" y="4562856"/>
            <a:ext cx="1737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8001000" y="4562856"/>
            <a:ext cx="3383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6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pricing, payments, and voice talent — a defensible operation global players won't prioritise for a market this size.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CHAMLAK MOVIE</a:t>
            </a:r>
            <a:pPr algn="l" indent="0" marL="0">
              <a:buNone/>
            </a:pPr>
            <a:r>
              <a:rPr lang="en-US" sz="900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Pitch   ·   Confidential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CHAMLAK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than an app — powered by the CHAMLAK group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26030" cy="2834640"/>
          </a:xfrm>
          <a:prstGeom prst="roundRect">
            <a:avLst>
              <a:gd name="adj" fmla="val 3620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27607" y="2331720"/>
            <a:ext cx="768096" cy="76809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312" y="2531425"/>
            <a:ext cx="368686" cy="368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291840"/>
            <a:ext cx="2251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CHAMLAK AI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721608"/>
            <a:ext cx="21602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Khmer-first AI — language, voice &amp; sentiment, localization tools.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94710" y="1965960"/>
            <a:ext cx="2526030" cy="2834640"/>
          </a:xfrm>
          <a:prstGeom prst="roundRect">
            <a:avLst>
              <a:gd name="adj" fmla="val 3620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73677" y="2331720"/>
            <a:ext cx="768096" cy="76809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3382" y="2531425"/>
            <a:ext cx="368686" cy="3686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31870" y="3291840"/>
            <a:ext cx="2251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CHAMLAK MEDIA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77590" y="3721608"/>
            <a:ext cx="21602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media engine — brand, content syndication &amp; distribution.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40780" y="1965960"/>
            <a:ext cx="2526030" cy="2834640"/>
          </a:xfrm>
          <a:prstGeom prst="roundRect">
            <a:avLst>
              <a:gd name="adj" fmla="val 3620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19747" y="2331720"/>
            <a:ext cx="768096" cy="76809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452" y="2531425"/>
            <a:ext cx="368686" cy="3686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77940" y="3291840"/>
            <a:ext cx="2251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CHAMLAK MUSIC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23660" y="3721608"/>
            <a:ext cx="21602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engineering, film scoring, surround sound &amp; DSP plugins.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86850" y="1965960"/>
            <a:ext cx="2526030" cy="2834640"/>
          </a:xfrm>
          <a:prstGeom prst="roundRect">
            <a:avLst>
              <a:gd name="adj" fmla="val 3620"/>
            </a:avLst>
          </a:prstGeom>
          <a:solidFill>
            <a:srgbClr val="3A2A63"/>
          </a:solidFill>
          <a:ln w="19050">
            <a:solidFill>
              <a:srgbClr val="F2A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65817" y="2331720"/>
            <a:ext cx="768096" cy="76809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5522" y="2531425"/>
            <a:ext cx="368686" cy="3686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24010" y="3291840"/>
            <a:ext cx="2251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CHAMLAK MOVIE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269730" y="3721608"/>
            <a:ext cx="21602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production &amp; the Khmer streaming app — this project.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Chamlak Movie ships with in-house surround sound and scoring (CHAMLAK MUSIC), AI localization and production tools (CHAMLAK AI), and group distribution (CHAMLAK MEDIA) — advantages a standalone app can't match. This raise is scoped to the Chamlak Movie project.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CHAMLAK MOVIE</a:t>
            </a:r>
            <a:pPr algn="l" indent="0" marL="0">
              <a:buNone/>
            </a:pPr>
            <a:r>
              <a:rPr lang="en-US" sz="900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Pitch   ·   Confidential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big, reachable audience — and we only need a sliver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21408"/>
            <a:ext cx="10972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03120" y="2176272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12.0M internet users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103120" y="2578608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online in Cambodia — the total entertainment audience.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319272"/>
            <a:ext cx="8229600" cy="1051560"/>
          </a:xfrm>
          <a:prstGeom prst="roundRect">
            <a:avLst>
              <a:gd name="adj" fmla="val 7826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3429000"/>
            <a:ext cx="10972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103120" y="348386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~5M mobile streamers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103120" y="3886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users who watch video and drama on their phones today.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626864"/>
            <a:ext cx="5120640" cy="1051560"/>
          </a:xfrm>
          <a:prstGeom prst="roundRect">
            <a:avLst>
              <a:gd name="adj" fmla="val 7826"/>
            </a:avLst>
          </a:prstGeom>
          <a:solidFill>
            <a:srgbClr val="F2A93B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4736592"/>
            <a:ext cx="10972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103120" y="47914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180K+ paying users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103120" y="51937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realistic 3-year target — under 4% of the serviceable market.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DataReportal Digital 2026 (internet users). Serviceable audience is an internal estimate; SOM reflects the paying-subscriber target in our financial model — a deliberately conservative capture rate.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CHAMLAK MOVIE</a:t>
            </a:r>
            <a:pPr algn="l" indent="0" marL="0">
              <a:buNone/>
            </a:pPr>
            <a:r>
              <a:rPr lang="en-US" sz="900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Pitch   ·   Confidential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pay — built for local wallets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44240" cy="2880360"/>
          </a:xfrm>
          <a:prstGeom prst="roundRect">
            <a:avLst>
              <a:gd name="adj" fmla="val 3175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13432"/>
            <a:ext cx="777240" cy="7772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" y="2515514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46120"/>
            <a:ext cx="280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749040"/>
            <a:ext cx="280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Weekly, monthly &amp; annual VIP plans — from a $0.99 trial to $9.99 / month and $30.99 / year. Predictable, recurring revenue that grows with the catalogue.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58640" y="1965960"/>
            <a:ext cx="3444240" cy="2880360"/>
          </a:xfrm>
          <a:prstGeom prst="roundRect">
            <a:avLst>
              <a:gd name="adj" fmla="val 3175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78680" y="2313432"/>
            <a:ext cx="777240" cy="7772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762" y="2515514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78680" y="3246120"/>
            <a:ext cx="280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Credits / coins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78680" y="3749040"/>
            <a:ext cx="280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Coins unlock episodes on demand — 100 coins (2 episodes) for $0.99, 300 for $1.99. The proven pay-per-view engine of DramaBox-style apps.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68640" y="1965960"/>
            <a:ext cx="3444240" cy="2880360"/>
          </a:xfrm>
          <a:prstGeom prst="roundRect">
            <a:avLst>
              <a:gd name="adj" fmla="val 3175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88680" y="2313432"/>
            <a:ext cx="777240" cy="7772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0762" y="2515514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88680" y="3246120"/>
            <a:ext cx="280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payments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88680" y="3749040"/>
            <a:ext cx="280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KHQR, ABA, Wing and bank cards — integrated with the rails Cambodians already use, removing the biggest barrier to paying.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516636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3A2A63"/>
          </a:solidFill>
          <a:ln/>
        </p:spPr>
      </p:sp>
      <p:sp>
        <p:nvSpPr>
          <p:cNvPr id="20" name="Text 15"/>
          <p:cNvSpPr/>
          <p:nvPr/>
        </p:nvSpPr>
        <p:spPr>
          <a:xfrm>
            <a:off x="868680" y="51663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upside: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6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optional free, ad-supported tier can widen the funnel and add advertising revenue on top. Full VIP plan ladder on the next slide.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CHAMLAK MOVIE</a:t>
            </a:r>
            <a:pPr algn="l" indent="0" marL="0">
              <a:buNone/>
            </a:pPr>
            <a:r>
              <a:rPr lang="en-US" sz="900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Pitch   ·   Confidential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PLANS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your plan — start watching today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2529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A9DA"/>
                </a:solidFill>
                <a:latin typeface="Khmer OS Siemreap" pitchFamily="34" charset="0"/>
                <a:ea typeface="Khmer OS Siemreap" pitchFamily="34" charset="-122"/>
                <a:cs typeface="Khmer OS Siemreap" pitchFamily="34" charset="-120"/>
              </a:rPr>
              <a:t>ជ្រើសរើសកញ្ចប់របស់អ្នក ហើយចាប់ផ្ដើមមើលឥឡូវនេះ។  ·  Premium movies &amp; dramas at a price that fits how you watch.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55648"/>
            <a:ext cx="3517392" cy="1536192"/>
          </a:xfrm>
          <a:prstGeom prst="roundRect">
            <a:avLst>
              <a:gd name="adj" fmla="val 5952"/>
            </a:avLst>
          </a:prstGeom>
          <a:solidFill>
            <a:srgbClr val="3A2A63"/>
          </a:solidFill>
          <a:ln w="19050">
            <a:solidFill>
              <a:srgbClr val="F2A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84704" y="1938528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2584704" y="19385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1917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6F2FC"/>
                </a:solidFill>
                <a:latin typeface="Khmer OS Siemreap" pitchFamily="34" charset="0"/>
                <a:ea typeface="Khmer OS Siemreap" pitchFamily="34" charset="-122"/>
                <a:cs typeface="Khmer OS Siemreap" pitchFamily="34" charset="-120"/>
              </a:rPr>
              <a:t>VIP ប្រចាំខែ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" y="2258568"/>
            <a:ext cx="3060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VIP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505456"/>
            <a:ext cx="3105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$9.99</a:t>
            </a:r>
            <a:pPr indent="0" marL="0">
              <a:buNone/>
            </a:pPr>
            <a:r>
              <a:rPr lang="en-US" sz="1100" dirty="0">
                <a:solidFill>
                  <a:srgbClr val="B9A9DA"/>
                </a:solidFill>
                <a:latin typeface="Khmer OS Siemreap" pitchFamily="34" charset="0"/>
                <a:ea typeface="Khmer OS Siemreap" pitchFamily="34" charset="-122"/>
                <a:cs typeface="Khmer OS Siemreap" pitchFamily="34" charset="-120"/>
              </a:rPr>
              <a:t>  / ខែ · month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777240" y="2944368"/>
            <a:ext cx="310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devices  ·  </a:t>
            </a:r>
            <a:pPr indent="0" marL="0">
              <a:buNone/>
            </a:pPr>
            <a:r>
              <a:rPr lang="en-US" sz="1050" dirty="0">
                <a:solidFill>
                  <a:srgbClr val="B9A9DA"/>
                </a:solidFill>
                <a:latin typeface="Khmer OS Siemreap" pitchFamily="34" charset="0"/>
                <a:ea typeface="Khmer OS Siemreap" pitchFamily="34" charset="-122"/>
                <a:cs typeface="Khmer OS Siemreap" pitchFamily="34" charset="-120"/>
              </a:rPr>
              <a:t>2 ឧបករណ៍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22064" y="1755648"/>
            <a:ext cx="3517392" cy="1536192"/>
          </a:xfrm>
          <a:prstGeom prst="roundRect">
            <a:avLst>
              <a:gd name="adj" fmla="val 5952"/>
            </a:avLst>
          </a:prstGeom>
          <a:solidFill>
            <a:srgbClr val="3A2A63"/>
          </a:solidFill>
          <a:ln w="19050">
            <a:solidFill>
              <a:srgbClr val="F2A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58128" y="1938528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358128" y="19385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VALUE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50664" y="1920240"/>
            <a:ext cx="1917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6F2FC"/>
                </a:solidFill>
                <a:latin typeface="Khmer OS Siemreap" pitchFamily="34" charset="0"/>
                <a:ea typeface="Khmer OS Siemreap" pitchFamily="34" charset="-122"/>
                <a:cs typeface="Khmer OS Siemreap" pitchFamily="34" charset="-120"/>
              </a:rPr>
              <a:t>VIP ប្រចាំឆ្នាំ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50664" y="2258568"/>
            <a:ext cx="3060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VIP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50664" y="2505456"/>
            <a:ext cx="3105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$30.99</a:t>
            </a:r>
            <a:pPr indent="0" marL="0">
              <a:buNone/>
            </a:pPr>
            <a:r>
              <a:rPr lang="en-US" sz="1100" dirty="0">
                <a:solidFill>
                  <a:srgbClr val="B9A9DA"/>
                </a:solidFill>
                <a:latin typeface="Khmer OS Siemreap" pitchFamily="34" charset="0"/>
                <a:ea typeface="Khmer OS Siemreap" pitchFamily="34" charset="-122"/>
                <a:cs typeface="Khmer OS Siemreap" pitchFamily="34" charset="-120"/>
              </a:rPr>
              <a:t>  / ឆ្នាំ · year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4550664" y="2944368"/>
            <a:ext cx="310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devices  ·  </a:t>
            </a:r>
            <a:pPr indent="0" marL="0">
              <a:buNone/>
            </a:pPr>
            <a:r>
              <a:rPr lang="en-US" sz="1050" dirty="0">
                <a:solidFill>
                  <a:srgbClr val="B9A9DA"/>
                </a:solidFill>
                <a:latin typeface="Khmer OS Siemreap" pitchFamily="34" charset="0"/>
                <a:ea typeface="Khmer OS Siemreap" pitchFamily="34" charset="-122"/>
                <a:cs typeface="Khmer OS Siemreap" pitchFamily="34" charset="-120"/>
              </a:rPr>
              <a:t>2 ឧបករណ៍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95488" y="1755648"/>
            <a:ext cx="3517392" cy="1536192"/>
          </a:xfrm>
          <a:prstGeom prst="roundRect">
            <a:avLst>
              <a:gd name="adj" fmla="val 5952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24088" y="1920240"/>
            <a:ext cx="3060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6F2FC"/>
                </a:solidFill>
                <a:latin typeface="Khmer OS Siemreap" pitchFamily="34" charset="0"/>
                <a:ea typeface="Khmer OS Siemreap" pitchFamily="34" charset="-122"/>
                <a:cs typeface="Khmer OS Siemreap" pitchFamily="34" charset="-120"/>
              </a:rPr>
              <a:t>កញ្ចប់សាកល្បង ៧ ថ្ងៃ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24088" y="2258568"/>
            <a:ext cx="3060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Starter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324088" y="2505456"/>
            <a:ext cx="3105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$0.99</a:t>
            </a:r>
            <a:pPr indent="0" marL="0">
              <a:buNone/>
            </a:pPr>
            <a:r>
              <a:rPr lang="en-US" sz="1100" dirty="0">
                <a:solidFill>
                  <a:srgbClr val="B9A9DA"/>
                </a:solidFill>
                <a:latin typeface="Khmer OS Siemreap" pitchFamily="34" charset="0"/>
                <a:ea typeface="Khmer OS Siemreap" pitchFamily="34" charset="-122"/>
                <a:cs typeface="Khmer OS Siemreap" pitchFamily="34" charset="-120"/>
              </a:rPr>
              <a:t>  / 7 ថ្ងៃ · days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8324088" y="2944368"/>
            <a:ext cx="310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device  ·  </a:t>
            </a:r>
            <a:pPr indent="0" marL="0">
              <a:buNone/>
            </a:pPr>
            <a:r>
              <a:rPr lang="en-US" sz="1050" dirty="0">
                <a:solidFill>
                  <a:srgbClr val="B9A9DA"/>
                </a:solidFill>
                <a:latin typeface="Khmer OS Siemreap" pitchFamily="34" charset="0"/>
                <a:ea typeface="Khmer OS Siemreap" pitchFamily="34" charset="-122"/>
                <a:cs typeface="Khmer OS Siemreap" pitchFamily="34" charset="-120"/>
              </a:rPr>
              <a:t>1 ឧបករណ៍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511296"/>
            <a:ext cx="3517392" cy="1536192"/>
          </a:xfrm>
          <a:prstGeom prst="roundRect">
            <a:avLst>
              <a:gd name="adj" fmla="val 5952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3675888"/>
            <a:ext cx="3060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6F2FC"/>
                </a:solidFill>
                <a:latin typeface="Khmer OS Siemreap" pitchFamily="34" charset="0"/>
                <a:ea typeface="Khmer OS Siemreap" pitchFamily="34" charset="-122"/>
                <a:cs typeface="Khmer OS Siemreap" pitchFamily="34" charset="-120"/>
              </a:rPr>
              <a:t>VIP ប្រចាំសប្ដាហ៍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77240" y="4014216"/>
            <a:ext cx="3060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VIP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77240" y="4261104"/>
            <a:ext cx="3105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$4.99</a:t>
            </a:r>
            <a:pPr indent="0" marL="0">
              <a:buNone/>
            </a:pPr>
            <a:r>
              <a:rPr lang="en-US" sz="1100" dirty="0">
                <a:solidFill>
                  <a:srgbClr val="B9A9DA"/>
                </a:solidFill>
                <a:latin typeface="Khmer OS Siemreap" pitchFamily="34" charset="0"/>
                <a:ea typeface="Khmer OS Siemreap" pitchFamily="34" charset="-122"/>
                <a:cs typeface="Khmer OS Siemreap" pitchFamily="34" charset="-120"/>
              </a:rPr>
              <a:t>  / 7 ថ្ងៃ · days</a:t>
            </a:r>
            <a:endParaRPr lang="en-US" sz="2500" dirty="0"/>
          </a:p>
        </p:txBody>
      </p:sp>
      <p:sp>
        <p:nvSpPr>
          <p:cNvPr id="28" name="Text 26"/>
          <p:cNvSpPr/>
          <p:nvPr/>
        </p:nvSpPr>
        <p:spPr>
          <a:xfrm>
            <a:off x="777240" y="4700016"/>
            <a:ext cx="310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device  ·  </a:t>
            </a:r>
            <a:pPr indent="0" marL="0">
              <a:buNone/>
            </a:pPr>
            <a:r>
              <a:rPr lang="en-US" sz="1050" dirty="0">
                <a:solidFill>
                  <a:srgbClr val="B9A9DA"/>
                </a:solidFill>
                <a:latin typeface="Khmer OS Siemreap" pitchFamily="34" charset="0"/>
                <a:ea typeface="Khmer OS Siemreap" pitchFamily="34" charset="-122"/>
                <a:cs typeface="Khmer OS Siemreap" pitchFamily="34" charset="-120"/>
              </a:rPr>
              <a:t>1 ឧបករណ៍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22064" y="3511296"/>
            <a:ext cx="3517392" cy="1536192"/>
          </a:xfrm>
          <a:prstGeom prst="roundRect">
            <a:avLst>
              <a:gd name="adj" fmla="val 5952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50664" y="3675888"/>
            <a:ext cx="3060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6F2FC"/>
                </a:solidFill>
                <a:latin typeface="Khmer OS Siemreap" pitchFamily="34" charset="0"/>
                <a:ea typeface="Khmer OS Siemreap" pitchFamily="34" charset="-122"/>
                <a:cs typeface="Khmer OS Siemreap" pitchFamily="34" charset="-120"/>
              </a:rPr>
              <a:t>VIP Pro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4550664" y="4014216"/>
            <a:ext cx="3060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Multi-device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50664" y="4261104"/>
            <a:ext cx="3105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$50.99</a:t>
            </a:r>
            <a:pPr indent="0" marL="0">
              <a:buNone/>
            </a:pPr>
            <a:r>
              <a:rPr lang="en-US" sz="1100" dirty="0">
                <a:solidFill>
                  <a:srgbClr val="B9A9DA"/>
                </a:solidFill>
                <a:latin typeface="Khmer OS Siemreap" pitchFamily="34" charset="0"/>
                <a:ea typeface="Khmer OS Siemreap" pitchFamily="34" charset="-122"/>
                <a:cs typeface="Khmer OS Siemreap" pitchFamily="34" charset="-120"/>
              </a:rPr>
              <a:t>  / ឆ្នាំ · year</a:t>
            </a:r>
            <a:endParaRPr lang="en-US" sz="2500" dirty="0"/>
          </a:p>
        </p:txBody>
      </p:sp>
      <p:sp>
        <p:nvSpPr>
          <p:cNvPr id="33" name="Text 31"/>
          <p:cNvSpPr/>
          <p:nvPr/>
        </p:nvSpPr>
        <p:spPr>
          <a:xfrm>
            <a:off x="4550664" y="4700016"/>
            <a:ext cx="310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devices  ·  </a:t>
            </a:r>
            <a:pPr indent="0" marL="0">
              <a:buNone/>
            </a:pPr>
            <a:r>
              <a:rPr lang="en-US" sz="1050" dirty="0">
                <a:solidFill>
                  <a:srgbClr val="B9A9DA"/>
                </a:solidFill>
                <a:latin typeface="Khmer OS Siemreap" pitchFamily="34" charset="0"/>
                <a:ea typeface="Khmer OS Siemreap" pitchFamily="34" charset="-122"/>
                <a:cs typeface="Khmer OS Siemreap" pitchFamily="34" charset="-120"/>
              </a:rPr>
              <a:t>4 ឧបករណ៍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95488" y="3511296"/>
            <a:ext cx="3517392" cy="1536192"/>
          </a:xfrm>
          <a:prstGeom prst="roundRect">
            <a:avLst>
              <a:gd name="adj" fmla="val 5952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131552" y="3694176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6" name="Text 34"/>
          <p:cNvSpPr/>
          <p:nvPr/>
        </p:nvSpPr>
        <p:spPr>
          <a:xfrm>
            <a:off x="10131552" y="36941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324088" y="3675888"/>
            <a:ext cx="1917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6F2FC"/>
                </a:solidFill>
                <a:latin typeface="Khmer OS Siemreap" pitchFamily="34" charset="0"/>
                <a:ea typeface="Khmer OS Siemreap" pitchFamily="34" charset="-122"/>
                <a:cs typeface="Khmer OS Siemreap" pitchFamily="34" charset="-120"/>
              </a:rPr>
              <a:t>VIP Plus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8324088" y="4014216"/>
            <a:ext cx="3060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/ Premium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324088" y="4261104"/>
            <a:ext cx="3105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$70.99</a:t>
            </a:r>
            <a:pPr indent="0" marL="0">
              <a:buNone/>
            </a:pPr>
            <a:r>
              <a:rPr lang="en-US" sz="1100" dirty="0">
                <a:solidFill>
                  <a:srgbClr val="B9A9DA"/>
                </a:solidFill>
                <a:latin typeface="Khmer OS Siemreap" pitchFamily="34" charset="0"/>
                <a:ea typeface="Khmer OS Siemreap" pitchFamily="34" charset="-122"/>
                <a:cs typeface="Khmer OS Siemreap" pitchFamily="34" charset="-120"/>
              </a:rPr>
              <a:t>  / ឆ្នាំ · year</a:t>
            </a:r>
            <a:endParaRPr lang="en-US" sz="2500" dirty="0"/>
          </a:p>
        </p:txBody>
      </p:sp>
      <p:sp>
        <p:nvSpPr>
          <p:cNvPr id="40" name="Text 38"/>
          <p:cNvSpPr/>
          <p:nvPr/>
        </p:nvSpPr>
        <p:spPr>
          <a:xfrm>
            <a:off x="8324088" y="4700016"/>
            <a:ext cx="310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devices  ·  </a:t>
            </a:r>
            <a:pPr indent="0" marL="0">
              <a:buNone/>
            </a:pPr>
            <a:r>
              <a:rPr lang="en-US" sz="1050" dirty="0">
                <a:solidFill>
                  <a:srgbClr val="B9A9DA"/>
                </a:solidFill>
                <a:latin typeface="Khmer OS Siemreap" pitchFamily="34" charset="0"/>
                <a:ea typeface="Khmer OS Siemreap" pitchFamily="34" charset="-122"/>
                <a:cs typeface="Khmer OS Siemreap" pitchFamily="34" charset="-120"/>
              </a:rPr>
              <a:t>4 ឧបករណ៍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8640" y="5230368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3A2A63"/>
          </a:solidFill>
          <a:ln/>
        </p:spPr>
      </p:sp>
      <p:sp>
        <p:nvSpPr>
          <p:cNvPr id="42" name="Shape 40"/>
          <p:cNvSpPr/>
          <p:nvPr/>
        </p:nvSpPr>
        <p:spPr>
          <a:xfrm>
            <a:off x="749808" y="542239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541264"/>
            <a:ext cx="219456" cy="219456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1371600" y="535838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C24B"/>
                </a:solidFill>
                <a:latin typeface="Khmer OS Siemreap" pitchFamily="34" charset="0"/>
                <a:ea typeface="Khmer OS Siemreap" pitchFamily="34" charset="-122"/>
                <a:cs typeface="Khmer OS Siemreap" pitchFamily="34" charset="-120"/>
              </a:rPr>
              <a:t>កាបូបកាក់</a:t>
            </a:r>
            <a:pPr indent="0" marL="0">
              <a:buNone/>
            </a:pPr>
            <a:r>
              <a:rPr lang="en-US" sz="125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 Coin Wallet</a:t>
            </a:r>
            <a:endParaRPr lang="en-US" sz="1250" dirty="0"/>
          </a:p>
        </p:txBody>
      </p:sp>
      <p:sp>
        <p:nvSpPr>
          <p:cNvPr id="45" name="Text 42"/>
          <p:cNvSpPr/>
          <p:nvPr/>
        </p:nvSpPr>
        <p:spPr>
          <a:xfrm>
            <a:off x="1371600" y="565099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6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coins </a:t>
            </a:r>
            <a:pPr indent="0" marL="0">
              <a:buNone/>
            </a:pPr>
            <a:r>
              <a:rPr lang="en-US" sz="115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 episodes · $0.99      </a:t>
            </a:r>
            <a:pPr indent="0" marL="0">
              <a:buNone/>
            </a:pPr>
            <a:r>
              <a:rPr lang="en-US" sz="1150" b="1" dirty="0">
                <a:solidFill>
                  <a:srgbClr val="F6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coins </a:t>
            </a:r>
            <a:pPr indent="0" marL="0">
              <a:buNone/>
            </a:pPr>
            <a:r>
              <a:rPr lang="en-US" sz="115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6 episodes · $1.99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7589520" y="5230368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A9DA"/>
                </a:solidFill>
                <a:latin typeface="Khmer OS Siemreap" pitchFamily="34" charset="0"/>
                <a:ea typeface="Khmer OS Siemreap" pitchFamily="34" charset="-122"/>
                <a:cs typeface="Khmer OS Siemreap" pitchFamily="34" charset="-120"/>
              </a:rPr>
              <a:t>បង់ប្រាក់</a:t>
            </a:r>
            <a:pPr algn="r" indent="0" marL="0">
              <a:buNone/>
            </a:pPr>
            <a:r>
              <a:rPr lang="en-US" sz="110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Pay:  </a:t>
            </a:r>
            <a:pPr algn="r" indent="0" marL="0">
              <a:buNone/>
            </a:pPr>
            <a:r>
              <a:rPr lang="en-US" sz="1150" b="1" dirty="0">
                <a:solidFill>
                  <a:srgbClr val="F6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KHQR · ABA · Wing · Card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CHAMLAK MOVIE</a:t>
            </a:r>
            <a:pPr algn="l" indent="0" marL="0">
              <a:buNone/>
            </a:pPr>
            <a:r>
              <a:rPr lang="en-US" sz="900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Pitch   ·   Confidential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conservative path to US$3M+ in annual revenue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6400800" cy="3749040"/>
          </a:xfrm>
          <a:prstGeom prst="roundRect">
            <a:avLst>
              <a:gd name="adj" fmla="val 2439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annual revenue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31520" y="2468880"/>
          <a:ext cx="60350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315200" y="1965960"/>
            <a:ext cx="4297680" cy="1097280"/>
          </a:xfrm>
          <a:prstGeom prst="roundRect">
            <a:avLst>
              <a:gd name="adj" fmla="val 8333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589520" y="20939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589520" y="23134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15,000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589520" y="27523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users at year-end · launch &amp; prove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315200" y="3291840"/>
            <a:ext cx="4297680" cy="1097280"/>
          </a:xfrm>
          <a:prstGeom prst="roundRect">
            <a:avLst>
              <a:gd name="adj" fmla="val 8333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589520" y="34198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589520" y="36393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60,000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589520" y="40782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users · scale library &amp; marketing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315200" y="4617720"/>
            <a:ext cx="4297680" cy="1097280"/>
          </a:xfrm>
          <a:prstGeom prst="roundRect">
            <a:avLst>
              <a:gd name="adj" fmla="val 8333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589520" y="47457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589520" y="49651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180,000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7589520" y="54041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users · category leadership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model — replace with your own figures. Blended ARPU of ~US$2.50 / paying user / month is consistent with Annual VIP (~$2.58/mo equivalent) and well below Monthly VIP ($9.99). Excludes advertising upside. Revenue = average paying users × ARPU × 12.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CHAMLAK MOVIE</a:t>
            </a:r>
            <a:pPr algn="l" indent="0" marL="0">
              <a:buNone/>
            </a:pPr>
            <a:r>
              <a:rPr lang="en-US" sz="900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Pitch   ·   Confidential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is doing all of this in Khmer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977640" y="1920240"/>
            <a:ext cx="1828800" cy="3611880"/>
          </a:xfrm>
          <a:prstGeom prst="roundRect">
            <a:avLst>
              <a:gd name="adj" fmla="val 4000"/>
            </a:avLst>
          </a:prstGeom>
          <a:solidFill>
            <a:srgbClr val="3A2A63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0" y="19659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Chamlak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852160" y="19659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9A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drama apps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0" y="19659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9A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Pirate / social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92640" y="19659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9A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OTT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Khmer voice-over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168" y="2770632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852160" y="2606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2792" y="2779776"/>
            <a:ext cx="219456" cy="219456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3032" y="2779776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" y="317296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pricing &amp; payments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3337560"/>
            <a:ext cx="237744" cy="237744"/>
          </a:xfrm>
          <a:prstGeom prst="rect">
            <a:avLst/>
          </a:prstGeom>
        </p:spPr>
      </p:pic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552" y="3346704"/>
            <a:ext cx="219456" cy="219456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2792" y="3346704"/>
            <a:ext cx="219456" cy="219456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43032" y="3346704"/>
            <a:ext cx="219456" cy="219456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40080" y="373989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licensed catalogue</a:t>
            </a:r>
            <a:endParaRPr lang="en-US" sz="13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3168" y="3904488"/>
            <a:ext cx="237744" cy="237744"/>
          </a:xfrm>
          <a:prstGeom prst="rect">
            <a:avLst/>
          </a:prstGeom>
        </p:spPr>
      </p:pic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93408" y="3904488"/>
            <a:ext cx="237744" cy="237744"/>
          </a:xfrm>
          <a:prstGeom prst="rect">
            <a:avLst/>
          </a:prstGeom>
        </p:spPr>
      </p:pic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22792" y="3913632"/>
            <a:ext cx="219456" cy="219456"/>
          </a:xfrm>
          <a:prstGeom prst="rect">
            <a:avLst/>
          </a:prstGeom>
        </p:spPr>
      </p:pic>
      <p:pic>
        <p:nvPicPr>
          <p:cNvPr id="2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33888" y="3904488"/>
            <a:ext cx="237744" cy="237744"/>
          </a:xfrm>
          <a:prstGeom prst="rect">
            <a:avLst/>
          </a:prstGeom>
        </p:spPr>
      </p:pic>
      <p:sp>
        <p:nvSpPr>
          <p:cNvPr id="24" name="Text 11"/>
          <p:cNvSpPr/>
          <p:nvPr/>
        </p:nvSpPr>
        <p:spPr>
          <a:xfrm>
            <a:off x="640080" y="430682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App-exclusive premium UX</a:t>
            </a:r>
            <a:endParaRPr lang="en-US" sz="1300" dirty="0"/>
          </a:p>
        </p:txBody>
      </p:sp>
      <p:pic>
        <p:nvPicPr>
          <p:cNvPr id="2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73168" y="4471416"/>
            <a:ext cx="237744" cy="237744"/>
          </a:xfrm>
          <a:prstGeom prst="rect">
            <a:avLst/>
          </a:prstGeom>
        </p:spPr>
      </p:pic>
      <p:pic>
        <p:nvPicPr>
          <p:cNvPr id="2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93408" y="4471416"/>
            <a:ext cx="237744" cy="237744"/>
          </a:xfrm>
          <a:prstGeom prst="rect">
            <a:avLst/>
          </a:prstGeom>
        </p:spPr>
      </p:pic>
      <p:pic>
        <p:nvPicPr>
          <p:cNvPr id="2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22792" y="4480560"/>
            <a:ext cx="219456" cy="219456"/>
          </a:xfrm>
          <a:prstGeom prst="rect">
            <a:avLst/>
          </a:prstGeom>
        </p:spPr>
      </p:pic>
      <p:pic>
        <p:nvPicPr>
          <p:cNvPr id="2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33888" y="4471416"/>
            <a:ext cx="237744" cy="237744"/>
          </a:xfrm>
          <a:prstGeom prst="rect">
            <a:avLst/>
          </a:prstGeom>
        </p:spPr>
      </p:pic>
      <p:sp>
        <p:nvSpPr>
          <p:cNvPr id="29" name="Text 12"/>
          <p:cNvSpPr/>
          <p:nvPr/>
        </p:nvSpPr>
        <p:spPr>
          <a:xfrm>
            <a:off x="640080" y="487375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Cambodia</a:t>
            </a:r>
            <a:endParaRPr lang="en-US" sz="1300" dirty="0"/>
          </a:p>
        </p:txBody>
      </p:sp>
      <p:pic>
        <p:nvPicPr>
          <p:cNvPr id="3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73168" y="5038344"/>
            <a:ext cx="237744" cy="237744"/>
          </a:xfrm>
          <a:prstGeom prst="rect">
            <a:avLst/>
          </a:prstGeom>
        </p:spPr>
      </p:pic>
      <p:pic>
        <p:nvPicPr>
          <p:cNvPr id="3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02552" y="5047488"/>
            <a:ext cx="219456" cy="219456"/>
          </a:xfrm>
          <a:prstGeom prst="rect">
            <a:avLst/>
          </a:prstGeom>
        </p:spPr>
      </p:pic>
      <p:pic>
        <p:nvPicPr>
          <p:cNvPr id="3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22792" y="5047488"/>
            <a:ext cx="219456" cy="219456"/>
          </a:xfrm>
          <a:prstGeom prst="rect">
            <a:avLst/>
          </a:prstGeom>
        </p:spPr>
      </p:pic>
      <p:pic>
        <p:nvPicPr>
          <p:cNvPr id="3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543032" y="5047488"/>
            <a:ext cx="219456" cy="219456"/>
          </a:xfrm>
          <a:prstGeom prst="rect">
            <a:avLst/>
          </a:prstGeom>
        </p:spPr>
      </p:pic>
      <p:sp>
        <p:nvSpPr>
          <p:cNvPr id="34" name="Text 13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apps have scale but no Khmer. Pirates are free but illegal and low-quality. We combine legal premium content, a native Khmer voice, and local payments — the full package.</a:t>
            </a:r>
            <a:endParaRPr lang="en-US" sz="1300" dirty="0"/>
          </a:p>
        </p:txBody>
      </p:sp>
      <p:sp>
        <p:nvSpPr>
          <p:cNvPr id="35" name="Text 1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CHAMLAK MOVIE</a:t>
            </a:r>
            <a:pPr algn="l" indent="0" marL="0">
              <a:buNone/>
            </a:pPr>
            <a:r>
              <a:rPr lang="en-US" sz="900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Pitch   ·   Confidential</a:t>
            </a:r>
            <a:endParaRPr lang="en-US" sz="900" dirty="0"/>
          </a:p>
        </p:txBody>
      </p:sp>
      <p:sp>
        <p:nvSpPr>
          <p:cNvPr id="36" name="Text 15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MARKET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loudly — keep the content exclusive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249424"/>
            <a:ext cx="713232" cy="713232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688" y="2434864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21284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Trailers, not full titles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783080" y="2670048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social media, TikTok clips and trailers to drive app installs — the movies themselves stay inside the app.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92024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56248" y="2249424"/>
            <a:ext cx="713232" cy="713232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1688" y="2434864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21284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Influencer &amp; KOL launches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498080" y="2670048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Cambodian creators and celebrities to voice titles and promote premieres to their audiences.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" y="4398264"/>
            <a:ext cx="713232" cy="713232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688" y="4583704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3616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Telco &amp; wallet partnerships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783080" y="4818888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with mobile operators and payment wallets for distribution, easy billing and instant reach.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406908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56248" y="4398264"/>
            <a:ext cx="713232" cy="713232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1688" y="4583704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43616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Referral &amp; community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498080" y="4818888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referral rewards and fan communities around hit series turn viewers into a growth engine.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CHAMLAK MOVIE</a:t>
            </a:r>
            <a:pPr algn="l" indent="0" marL="0">
              <a:buNone/>
            </a:pPr>
            <a:r>
              <a:rPr lang="en-US" sz="900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Pitch   ·   Confidential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clear, phased path to leadership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11655" y="2395728"/>
            <a:ext cx="8538210" cy="0"/>
          </a:xfrm>
          <a:prstGeom prst="line">
            <a:avLst/>
          </a:prstGeom>
          <a:noFill/>
          <a:ln w="38100">
            <a:solidFill>
              <a:srgbClr val="3A2A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5623" y="2139696"/>
            <a:ext cx="512064" cy="512064"/>
          </a:xfrm>
          <a:prstGeom prst="ellipse">
            <a:avLst/>
          </a:prstGeom>
          <a:solidFill>
            <a:srgbClr val="F2A93B"/>
          </a:solidFill>
          <a:ln w="31750">
            <a:solidFill>
              <a:srgbClr val="1B10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5623" y="2139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2526030" cy="2651760"/>
          </a:xfrm>
          <a:prstGeom prst="roundRect">
            <a:avLst>
              <a:gd name="adj" fmla="val 3620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907792"/>
            <a:ext cx="2068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0–6 MONTHS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3218688"/>
            <a:ext cx="21602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beta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49808" y="3749040"/>
            <a:ext cx="212369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first licenses, set up the voice-over studio pipeline, build the MVP app, launch a beta catalogue.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01693" y="2139696"/>
            <a:ext cx="512064" cy="512064"/>
          </a:xfrm>
          <a:prstGeom prst="ellipse">
            <a:avLst/>
          </a:prstGeom>
          <a:solidFill>
            <a:srgbClr val="F2A93B"/>
          </a:solidFill>
          <a:ln w="31750">
            <a:solidFill>
              <a:srgbClr val="1B10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1693" y="2139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394710" y="2651760"/>
            <a:ext cx="2526030" cy="2651760"/>
          </a:xfrm>
          <a:prstGeom prst="roundRect">
            <a:avLst>
              <a:gd name="adj" fmla="val 3620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3310" y="2907792"/>
            <a:ext cx="2068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77590" y="3218688"/>
            <a:ext cx="21602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launch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595878" y="3749040"/>
            <a:ext cx="212369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 with subscriptions + credits, integrate local wallets, reach the first 15K paying users.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247763" y="2139696"/>
            <a:ext cx="512064" cy="512064"/>
          </a:xfrm>
          <a:prstGeom prst="ellipse">
            <a:avLst/>
          </a:prstGeom>
          <a:solidFill>
            <a:srgbClr val="F2A93B"/>
          </a:solidFill>
          <a:ln w="31750">
            <a:solidFill>
              <a:srgbClr val="1B10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47763" y="2139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40780" y="2651760"/>
            <a:ext cx="2526030" cy="2651760"/>
          </a:xfrm>
          <a:prstGeom prst="roundRect">
            <a:avLst>
              <a:gd name="adj" fmla="val 3620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69380" y="2907792"/>
            <a:ext cx="2068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23660" y="3218688"/>
            <a:ext cx="21602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41948" y="3749040"/>
            <a:ext cx="212369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 the library, ramp influencer marketing, hit 60K+ paying users and a break-even trajectory.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093833" y="2139696"/>
            <a:ext cx="512064" cy="512064"/>
          </a:xfrm>
          <a:prstGeom prst="ellipse">
            <a:avLst/>
          </a:prstGeom>
          <a:solidFill>
            <a:srgbClr val="F2A93B"/>
          </a:solidFill>
          <a:ln w="31750">
            <a:solidFill>
              <a:srgbClr val="1B10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93833" y="2139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086850" y="2651760"/>
            <a:ext cx="2526030" cy="2651760"/>
          </a:xfrm>
          <a:prstGeom prst="roundRect">
            <a:avLst>
              <a:gd name="adj" fmla="val 3620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315450" y="2907792"/>
            <a:ext cx="2068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269730" y="3218688"/>
            <a:ext cx="21602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&amp; expand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288018" y="3749040"/>
            <a:ext cx="212369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Khmer premium streaming at 180K+ users, add original productions, reach the Khmer diaspora.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CHAMLAK MOVIE</a:t>
            </a:r>
            <a:pPr algn="l" indent="0" marL="0">
              <a:buNone/>
            </a:pPr>
            <a:r>
              <a:rPr lang="en-US" sz="900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Pitch   ·   Confidential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people who will build this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0612" y="2286000"/>
            <a:ext cx="1133856" cy="11338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5661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Mr. Morng Chuk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77240" y="395020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Creative &amp; Technology Officer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68680" y="4315968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engineer, surround-sound designer, film director, coder &amp; plugin creator. Leads creative direction, audio, film production and core technology.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55080" y="192024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52" y="2286000"/>
            <a:ext cx="1133856" cy="11338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0" y="35661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Mr. Chamnab Mey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583680" y="395020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Executive &amp; Strategy Officer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675120" y="4315968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management, strategic marketing, software development &amp; R&amp;D. Drives corporate strategy, AI R&amp;D, market expansion and growth.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founder photos, plus any advisors, licensing partners or notable early hires. Investors back people first — keep this slide specific and credible.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CHAMLAK MOVIE</a:t>
            </a:r>
            <a:pPr algn="l" indent="0" marL="0">
              <a:buNone/>
            </a:pPr>
            <a:r>
              <a:rPr lang="en-US" sz="900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Pitch   ·   Confidential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raising — and where it goes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3A2A63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RAISING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43230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[ amount ]</a:t>
            </a:r>
            <a:pPr indent="0" marL="0">
              <a:buNone/>
            </a:pPr>
            <a:r>
              <a:rPr lang="en-US" sz="1500" dirty="0">
                <a:solidFill>
                  <a:srgbClr val="B9A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seed round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94360" y="342900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54787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429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6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content licensing &amp; the Khmer voice-over studio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4360" y="4105656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224528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410565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6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launch the app with local payments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94360" y="478231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901184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47823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6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our first paying subscribers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94360" y="5458968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577840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54589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6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~18 months of runway to key milestones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035040" y="1965960"/>
            <a:ext cx="5577840" cy="3749040"/>
          </a:xfrm>
          <a:prstGeom prst="roundRect">
            <a:avLst>
              <a:gd name="adj" fmla="val 2439"/>
            </a:avLst>
          </a:prstGeom>
          <a:solidFill>
            <a:srgbClr val="2E2150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6355080" y="21214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2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6126480" y="2514600"/>
          <a:ext cx="512064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 1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CHAMLAK MOVIE</a:t>
            </a:r>
            <a:pPr algn="l" indent="0" marL="0">
              <a:buNone/>
            </a:pPr>
            <a:r>
              <a:rPr lang="en-US" sz="900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Pitch   ·   Confidential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8229600" y="1371600"/>
            <a:ext cx="3657600" cy="3657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137160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2A93B"/>
          </a:solidFill>
          <a:ln/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1645920"/>
            <a:ext cx="402336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265176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Khmer voice of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6F2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entertainment.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822960" y="43434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Chamlak Movie makes the world's stories feel like they were made for Cambodia. Join us in building the category leader — from the very first title.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822960" y="5577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    </a:t>
            </a:r>
            <a:pPr indent="0" marL="0">
              <a:buNone/>
            </a:pPr>
            <a:r>
              <a:rPr lang="en-US" sz="1500" dirty="0">
                <a:solidFill>
                  <a:srgbClr val="8C7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chamlak.com   ·   [ email ]   ·   [ phone ]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Chamlak Movie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Chamlak Media</dc:creator>
  <cp:lastModifiedBy>Chamlak Media</cp:lastModifiedBy>
  <cp:revision>1</cp:revision>
  <dcterms:created xsi:type="dcterms:W3CDTF">2026-08-08T10:18:39Z</dcterms:created>
  <dcterms:modified xsi:type="dcterms:W3CDTF">2026-08-08T10:18:39Z</dcterms:modified>
</cp:coreProperties>
</file>