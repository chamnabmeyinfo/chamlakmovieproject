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240000</c:v>
                </c:pt>
                <c:pt idx="1">
                  <c:v>1050000</c:v>
                </c:pt>
                <c:pt idx="2">
                  <c:v>3300000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9BAE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B134"/>
              </a:solidFill>
              <a:effectLst/>
            </c:spPr>
          </c:dPt>
          <c:dPt>
            <c:idx val="1"/>
            <c:bubble3D val="0"/>
            <c:spPr>
              <a:solidFill>
                <a:srgbClr val="43D9C6"/>
              </a:solidFill>
              <a:effectLst/>
            </c:spPr>
          </c:dPt>
          <c:dPt>
            <c:idx val="2"/>
            <c:bubble3D val="0"/>
            <c:spPr>
              <a:solidFill>
                <a:srgbClr val="FF5D73"/>
              </a:solidFill>
              <a:effectLst/>
            </c:spPr>
          </c:dPt>
          <c:dPt>
            <c:idx val="3"/>
            <c:bubble3D val="0"/>
            <c:spPr>
              <a:solidFill>
                <a:srgbClr val="3A25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60B29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60B29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60B29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60B29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Content licensing &amp; voice-over</c:v>
                </c:pt>
                <c:pt idx="1">
                  <c:v>Product &amp; technology</c:v>
                </c:pt>
                <c:pt idx="2">
                  <c:v>Marketing &amp; user acquisition</c:v>
                </c:pt>
                <c:pt idx="3">
                  <c:v>Team &amp; 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BAE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Chamlak Movie — a mobile streaming app delivering licensed films and short dramas dubbed into high-quality Khmer voice-over, monetized through subscriptions and credits. Replace the play-button motif with your real logo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short-drama IAP revenue reached $2.98B in 2025 (+115% YoY), the third-fastest-growing app category Sensor Tower tracks. Cambodia has ~10.7M internet-connected smartphones and 124% mobile penetration. No dominant Khmer-language player exists — that is our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(1) legal licensed catalogue, (2) professional Khmer voice-over as the core differentiator, (3) app-exclusive full content to protect value and drive subs, (4) local-first monetization via subscription +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80-90% of international short-drama releases are dubbed/translated (Real Reel, 2025). Time-sync voice-over is the accepted SEA convention. Being first in Khmer + local operations is our defensibility.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are illustrative and MUST be replaced with your own assumptions before sending to investors. Model logic: average paying users during the year x blended monthly ARPU x 12. ARPU assumed ~$2.50/month. Ad revenue excluded to stay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we DO use social media to market (trailers, clips, influencer buzz) but we NEVER post full titles there. Content stays app-exclusive to protect licensing value and push subscriptions.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real founders, photos and credentials. If you have advisors, licensing partners or notable early hires, add them — they de-risk the bet for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target raise amount and adjust the allocation to match your plan. The four buckets shown (40/20/25/15) are a sensible starting point for a content + app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conviction and your real contact details. The two-line vision should be the one thing an investor remembers.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4" name="Shape 2"/>
          <p:cNvSpPr/>
          <p:nvPr/>
        </p:nvSpPr>
        <p:spPr>
          <a:xfrm>
            <a:off x="1847088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5" name="Shape 3"/>
          <p:cNvSpPr/>
          <p:nvPr/>
        </p:nvSpPr>
        <p:spPr>
          <a:xfrm>
            <a:off x="2542032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6" name="Shape 4"/>
          <p:cNvSpPr/>
          <p:nvPr/>
        </p:nvSpPr>
        <p:spPr>
          <a:xfrm>
            <a:off x="3236976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8" name="Shape 6"/>
          <p:cNvSpPr/>
          <p:nvPr/>
        </p:nvSpPr>
        <p:spPr>
          <a:xfrm>
            <a:off x="4626864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9" name="Shape 7"/>
          <p:cNvSpPr/>
          <p:nvPr/>
        </p:nvSpPr>
        <p:spPr>
          <a:xfrm>
            <a:off x="5321808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0" name="Shape 8"/>
          <p:cNvSpPr/>
          <p:nvPr/>
        </p:nvSpPr>
        <p:spPr>
          <a:xfrm>
            <a:off x="6016752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711696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4" name="Shape 12"/>
          <p:cNvSpPr/>
          <p:nvPr/>
        </p:nvSpPr>
        <p:spPr>
          <a:xfrm>
            <a:off x="8796528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491472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86416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562356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" y="891540"/>
            <a:ext cx="1051560" cy="105156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083564"/>
            <a:ext cx="667512" cy="6675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MOVIE</a:t>
            </a:r>
            <a:endParaRPr lang="en-US" sz="6200" dirty="0"/>
          </a:p>
        </p:txBody>
      </p:sp>
      <p:sp>
        <p:nvSpPr>
          <p:cNvPr id="21" name="Text 18"/>
          <p:cNvSpPr/>
          <p:nvPr/>
        </p:nvSpPr>
        <p:spPr>
          <a:xfrm>
            <a:off x="54864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Cambodia's first premium streaming app for films &amp; short dramas — fully voiced over in high-quality Khmer.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pPr indent="0" marL="0">
              <a:buNone/>
            </a:pPr>
            <a:r>
              <a:rPr lang="en-US" sz="140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Seed Round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waves are colliding in our favour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975104"/>
            <a:ext cx="658368" cy="6583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$2.98B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" y="3520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short-drama in-app revenue in 2025 — up 115% year-on-year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46177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Tower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01568" y="173736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2A1A48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975104"/>
            <a:ext cx="658368" cy="6583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305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889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10.7M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3566160" y="3520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connected to the internet in Cambodia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66160" y="46177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 / Phnom Penh Post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54496" y="173736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2A1A4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92240" y="1975104"/>
            <a:ext cx="658368" cy="6583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13055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7889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124%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6419088" y="3520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penetration in Cambodia — one of the highest rates on earth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19088" y="46177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DataReportal 2025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107424" y="1737360"/>
            <a:ext cx="2532888" cy="3200400"/>
          </a:xfrm>
          <a:prstGeom prst="roundRect">
            <a:avLst>
              <a:gd name="adj" fmla="val 3610"/>
            </a:avLst>
          </a:prstGeom>
          <a:solidFill>
            <a:srgbClr val="2A1A48"/>
          </a:solidFill>
          <a:ln/>
        </p:spPr>
      </p:sp>
      <p:sp>
        <p:nvSpPr>
          <p:cNvPr id="23" name="Shape 18"/>
          <p:cNvSpPr/>
          <p:nvPr/>
        </p:nvSpPr>
        <p:spPr>
          <a:xfrm>
            <a:off x="9345168" y="1975104"/>
            <a:ext cx="658368" cy="65836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13055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2016" y="27889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9272016" y="3520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Khmer-language streaming apps exist today — the market is open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272016" y="461772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scan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548640" y="51663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short-drama model has proven consumers will pay for mobile-first, snackable, emotionally-charged stories. That behaviour is now arriving in a mobile-saturated Cambodia — in a language nobody is serving well.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Cambodian viewers are hungry — and underserved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3566160"/>
          </a:xfrm>
          <a:prstGeom prst="roundRect">
            <a:avLst>
              <a:gd name="adj" fmla="val 2648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1795272" y="2171700"/>
            <a:ext cx="960120" cy="96012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296" y="2363724"/>
            <a:ext cx="576072" cy="576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D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 wall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like DramaBox and ReelShort serve English and other languages. Most Cambodians can't enjoy them fully — subtitles are tiring and exclude older and rural audiences.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7784" y="1783080"/>
            <a:ext cx="3453384" cy="3566160"/>
          </a:xfrm>
          <a:prstGeom prst="roundRect">
            <a:avLst>
              <a:gd name="adj" fmla="val 2648"/>
            </a:avLst>
          </a:prstGeom>
          <a:solidFill>
            <a:srgbClr val="2A1A48"/>
          </a:solidFill>
          <a:ln/>
        </p:spPr>
      </p:sp>
      <p:sp>
        <p:nvSpPr>
          <p:cNvPr id="10" name="Shape 7"/>
          <p:cNvSpPr/>
          <p:nvPr/>
        </p:nvSpPr>
        <p:spPr>
          <a:xfrm>
            <a:off x="5614416" y="2171700"/>
            <a:ext cx="960120" cy="96012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63724"/>
            <a:ext cx="576072" cy="5760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6384" y="32461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D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Piracy &amp; fragmentation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42104" y="374904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scattered across social media and pirate sites — poor quality, no reliable catalogue, and no safe, premium place to watch legally.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6928" y="1783080"/>
            <a:ext cx="3453384" cy="3566160"/>
          </a:xfrm>
          <a:prstGeom prst="roundRect">
            <a:avLst>
              <a:gd name="adj" fmla="val 2648"/>
            </a:avLst>
          </a:prstGeom>
          <a:solidFill>
            <a:srgbClr val="2A1A48"/>
          </a:solidFill>
          <a:ln/>
        </p:spPr>
      </p:sp>
      <p:sp>
        <p:nvSpPr>
          <p:cNvPr id="15" name="Shape 11"/>
          <p:cNvSpPr/>
          <p:nvPr/>
        </p:nvSpPr>
        <p:spPr>
          <a:xfrm>
            <a:off x="9433560" y="2171700"/>
            <a:ext cx="960120" cy="96012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584" y="2363724"/>
            <a:ext cx="576072" cy="5760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5528" y="32461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D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local premium option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61248" y="3749040"/>
            <a:ext cx="2904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trusted, mobile-first, Khmer-native streaming brand with local pricing and local payment methods built for how Cambodians actually pay.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exists. What's missing is a product built for Cambodia, in Khmer, that people can pay for easily.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 Movie — licensed stories, spoken in Khmer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17420"/>
            <a:ext cx="914400" cy="91440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003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39112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Licensed, legal catalogue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496312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license films and short dramas from suppliers worldwide — a growing, high-quality library with none of the legal risk of piracy.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10" name="Shape 7"/>
          <p:cNvSpPr/>
          <p:nvPr/>
        </p:nvSpPr>
        <p:spPr>
          <a:xfrm>
            <a:off x="6597396" y="2217420"/>
            <a:ext cx="914400" cy="91440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4003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4676" y="2039112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High-quality Khmer voice-over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94676" y="2496312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title is professionally voiced over in Khmer before it goes live — the emotional, native experience audiences actually want.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20540"/>
            <a:ext cx="914400" cy="91440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034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42232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App-exclusive content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4599432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titles live only inside our app — never given away on social feeds. This protects our licensing value and drives subscriptions.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97396" y="4320540"/>
            <a:ext cx="914400" cy="91440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5034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94676" y="4142232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local monetization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94676" y="4599432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monthly subscriptions plus a credit / coin model — priced for Cambodia and paid via the wallets people already use.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license to living-room, in one clean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2971800"/>
            <a:ext cx="8961120" cy="0"/>
          </a:xfrm>
          <a:prstGeom prst="line">
            <a:avLst/>
          </a:prstGeom>
          <a:noFill/>
          <a:ln w="31750">
            <a:solidFill>
              <a:srgbClr val="3A256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50392" y="2404872"/>
            <a:ext cx="1133856" cy="113385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656332"/>
            <a:ext cx="630936" cy="630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37360" y="2194560"/>
            <a:ext cx="384048" cy="38404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8" name="Text 5"/>
          <p:cNvSpPr/>
          <p:nvPr/>
        </p:nvSpPr>
        <p:spPr>
          <a:xfrm>
            <a:off x="17373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rights from global content suppliers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90672" y="2404872"/>
            <a:ext cx="1133856" cy="113385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2656332"/>
            <a:ext cx="630936" cy="6309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77640" y="2194560"/>
            <a:ext cx="384048" cy="38404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14" name="Text 10"/>
          <p:cNvSpPr/>
          <p:nvPr/>
        </p:nvSpPr>
        <p:spPr>
          <a:xfrm>
            <a:off x="3977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517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Voice-over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0604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Khmer dub in our studio pipeline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330952" y="2404872"/>
            <a:ext cx="1133856" cy="113385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12" y="2656332"/>
            <a:ext cx="630936" cy="6309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17920" y="2194560"/>
            <a:ext cx="384048" cy="38404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20" name="Text 15"/>
          <p:cNvSpPr/>
          <p:nvPr/>
        </p:nvSpPr>
        <p:spPr>
          <a:xfrm>
            <a:off x="62179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9204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sync, clarity &amp; cultural review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571232" y="2404872"/>
            <a:ext cx="1133856" cy="113385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692" y="2656332"/>
            <a:ext cx="630936" cy="6309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458200" y="2194560"/>
            <a:ext cx="384048" cy="38404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26" name="Text 20"/>
          <p:cNvSpPr/>
          <p:nvPr/>
        </p:nvSpPr>
        <p:spPr>
          <a:xfrm>
            <a:off x="8458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323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08660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app-exclusive, in high quality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811512" y="2404872"/>
            <a:ext cx="1133856" cy="113385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972" y="2656332"/>
            <a:ext cx="630936" cy="6309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698480" y="2194560"/>
            <a:ext cx="384048" cy="38404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32" name="Text 25"/>
          <p:cNvSpPr/>
          <p:nvPr/>
        </p:nvSpPr>
        <p:spPr>
          <a:xfrm>
            <a:off x="106984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3726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9326880" y="4069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credits unlock the catalogue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Time-synced Khmer voice-over is exactly the localization method the industry recommends for Southeast Asia — proven, fast to produce, and loved by audiences.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0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Khmer voice-over is the moat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606040"/>
            <a:ext cx="1920240" cy="1920240"/>
          </a:xfrm>
          <a:prstGeom prst="ellipse">
            <a:avLst/>
          </a:prstGeom>
          <a:solidFill>
            <a:srgbClr val="2A1A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304038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46120" y="17830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 can be copied. A trusted Khmer voice, a studio pipeline, and a first-mover brand cannot be copied overnight.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360920" y="173736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2A1A48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80–90%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89720" y="1901952"/>
            <a:ext cx="2221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international short-drama releases are dubbed / translated versions — localization is the #1 growth lever, not a nice-to-have.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3364992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2A1A48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5478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89720" y="3529584"/>
            <a:ext cx="2221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in Khmer premium streaming — the first credible brand in a language tends to own the category.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60920" y="4992624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2A1A48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5175504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189720" y="5157216"/>
            <a:ext cx="2221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local payments, local voice talent — a defensible operation global players won't prioritise for a market this size.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big, reachable audience — and we only need a sliver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595360" cy="1143000"/>
          </a:xfrm>
          <a:prstGeom prst="roundRect">
            <a:avLst>
              <a:gd name="adj" fmla="val 6400"/>
            </a:avLst>
          </a:prstGeom>
          <a:solidFill>
            <a:srgbClr val="3A256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9112"/>
            <a:ext cx="1280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03120" y="1984248"/>
            <a:ext cx="6812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10.8M internet users
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online in Cambodia — the total entertainment audience.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45920" y="3273552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2A1A48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3438144"/>
            <a:ext cx="1280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46177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 mobile streamers
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who watch video and drama on their phones today.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34640" y="4672584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837176"/>
            <a:ext cx="1280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0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4782312"/>
            <a:ext cx="2240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60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 paying users
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60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realistic 3-year target — under 4% of the serviceable market.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DataReportal 2025 (internet users); serviceable audience is an internal estimate. SOM reflects the paying-subscriber target in our financial model — a deliberately conservative capture rate.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pay — built for local wallets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2834640"/>
          </a:xfrm>
          <a:prstGeom prst="roundRect">
            <a:avLst>
              <a:gd name="adj" fmla="val 3226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12598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3088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weekly and monthly plans for unlimited access. Predictable, recurring revenue that grows with the catalogue.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1783080"/>
            <a:ext cx="3453384" cy="2834640"/>
          </a:xfrm>
          <a:prstGeom prst="roundRect">
            <a:avLst>
              <a:gd name="adj" fmla="val 3226"/>
            </a:avLst>
          </a:prstGeom>
          <a:solidFill>
            <a:srgbClr val="2A1A48"/>
          </a:solidFill>
          <a:ln/>
        </p:spPr>
      </p:sp>
      <p:sp>
        <p:nvSpPr>
          <p:cNvPr id="10" name="Shape 7"/>
          <p:cNvSpPr/>
          <p:nvPr/>
        </p:nvSpPr>
        <p:spPr>
          <a:xfrm>
            <a:off x="4710684" y="212598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564" y="23088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2104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 / coins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42104" y="35661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unlocks for casual viewers and for premium new releases — the proven engine of DramaBox-style apps.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1783080"/>
            <a:ext cx="3453384" cy="2834640"/>
          </a:xfrm>
          <a:prstGeom prst="roundRect">
            <a:avLst>
              <a:gd name="adj" fmla="val 3226"/>
            </a:avLst>
          </a:prstGeom>
          <a:solidFill>
            <a:srgbClr val="2A1A48"/>
          </a:solidFill>
          <a:ln/>
        </p:spPr>
      </p:sp>
      <p:sp>
        <p:nvSpPr>
          <p:cNvPr id="15" name="Shape 11"/>
          <p:cNvSpPr/>
          <p:nvPr/>
        </p:nvSpPr>
        <p:spPr>
          <a:xfrm>
            <a:off x="8529828" y="212598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708" y="23088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1248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payments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61248" y="356616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mobile wallets and telco billing Cambodians already use — removing the biggest barrier to paying.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upside:  </a:t>
            </a:r>
            <a:pPr algn="l" indent="0" marL="0">
              <a:buNone/>
            </a:pPr>
            <a:r>
              <a:rPr lang="en-US" sz="1400" i="1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free, ad-supported tier can widen the funnel and add advertising revenue on top of subscriptions and credits.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conservative path to $3M+ in annual revenue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126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revenue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40880" y="1691640"/>
            <a:ext cx="4599432" cy="1051560"/>
          </a:xfrm>
          <a:prstGeom prst="roundRect">
            <a:avLst>
              <a:gd name="adj" fmla="val 8696"/>
            </a:avLst>
          </a:prstGeom>
          <a:solidFill>
            <a:srgbClr val="2A1A4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555480" y="18745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at year-end · launch &amp; prove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2944368"/>
            <a:ext cx="4599432" cy="1051560"/>
          </a:xfrm>
          <a:prstGeom prst="roundRect">
            <a:avLst>
              <a:gd name="adj" fmla="val 8696"/>
            </a:avLst>
          </a:prstGeom>
          <a:solidFill>
            <a:srgbClr val="2A1A4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3310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555480" y="3127248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· scale library &amp; marketing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40880" y="4197096"/>
            <a:ext cx="4599432" cy="1051560"/>
          </a:xfrm>
          <a:prstGeom prst="roundRect">
            <a:avLst>
              <a:gd name="adj" fmla="val 8696"/>
            </a:avLst>
          </a:prstGeom>
          <a:solidFill>
            <a:srgbClr val="2A1A4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45628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180,000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555480" y="4379976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· category leadership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040880" y="544068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— replace with your figures. Assumes a blended ARPU of ~$2.50 per paying user / month and excludes advertising upside. Revenue = average paying users × ARPU.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doing all of this in Khmer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0" y="1783080"/>
            <a:ext cx="1881378" cy="4069080"/>
          </a:xfrm>
          <a:prstGeom prst="roundRect">
            <a:avLst>
              <a:gd name="adj" fmla="val 3888"/>
            </a:avLst>
          </a:prstGeom>
          <a:solidFill>
            <a:srgbClr val="2A1A48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22192" y="1828800"/>
            <a:ext cx="1826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Chamlak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95010" y="1828800"/>
            <a:ext cx="1826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BA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drama apps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67828" y="1828800"/>
            <a:ext cx="1826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BA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Pirate sites / social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740646" y="1828800"/>
            <a:ext cx="1826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BA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OTT (Netflix etc.)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 voice-over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43425" y="2606040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865" y="2697480"/>
            <a:ext cx="201168" cy="2011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16243" y="2606040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683" y="269748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94676" y="2468880"/>
            <a:ext cx="1972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0461879" y="2606040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319" y="2697480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127248"/>
            <a:ext cx="11091672" cy="0"/>
          </a:xfrm>
          <a:prstGeom prst="line">
            <a:avLst/>
          </a:prstGeom>
          <a:noFill/>
          <a:ln w="12700">
            <a:solidFill>
              <a:srgbClr val="24164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3127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pricing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43425" y="3264408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865" y="3355848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516243" y="3264408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683" y="3355848"/>
            <a:ext cx="201168" cy="20116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489061" y="3264408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501" y="3355848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0461879" y="3264408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319" y="3355848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48640" y="3785616"/>
            <a:ext cx="11091672" cy="0"/>
          </a:xfrm>
          <a:prstGeom prst="line">
            <a:avLst/>
          </a:prstGeom>
          <a:noFill/>
          <a:ln w="12700">
            <a:solidFill>
              <a:srgbClr val="241640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48640" y="37856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4543425" y="3922776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4865" y="4014216"/>
            <a:ext cx="201168" cy="201168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516243" y="3922776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7683" y="4014216"/>
            <a:ext cx="201168" cy="2011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8489061" y="3922776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0501" y="4014216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10461879" y="3922776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3319" y="4014216"/>
            <a:ext cx="201168" cy="201168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548640" y="4443984"/>
            <a:ext cx="11091672" cy="0"/>
          </a:xfrm>
          <a:prstGeom prst="line">
            <a:avLst/>
          </a:prstGeom>
          <a:noFill/>
          <a:ln w="12700">
            <a:solidFill>
              <a:srgbClr val="241640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548640" y="44439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licensed catalogue</a:t>
            </a:r>
            <a:endParaRPr lang="en-US" sz="1300" dirty="0"/>
          </a:p>
        </p:txBody>
      </p:sp>
      <p:sp>
        <p:nvSpPr>
          <p:cNvPr id="39" name="Shape 26"/>
          <p:cNvSpPr/>
          <p:nvPr/>
        </p:nvSpPr>
        <p:spPr>
          <a:xfrm>
            <a:off x="4543425" y="4581144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4865" y="4672584"/>
            <a:ext cx="201168" cy="201168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516243" y="4581144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7683" y="4672584"/>
            <a:ext cx="201168" cy="201168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8489061" y="4581144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80501" y="4672584"/>
            <a:ext cx="201168" cy="201168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10461879" y="4581144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53319" y="4672584"/>
            <a:ext cx="201168" cy="201168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548640" y="5102352"/>
            <a:ext cx="11091672" cy="0"/>
          </a:xfrm>
          <a:prstGeom prst="line">
            <a:avLst/>
          </a:prstGeom>
          <a:noFill/>
          <a:ln w="12700">
            <a:solidFill>
              <a:srgbClr val="241640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548640" y="51023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App-exclusive premium UX</a:t>
            </a:r>
            <a:endParaRPr lang="en-US" sz="1300" dirty="0"/>
          </a:p>
        </p:txBody>
      </p:sp>
      <p:sp>
        <p:nvSpPr>
          <p:cNvPr id="49" name="Shape 32"/>
          <p:cNvSpPr/>
          <p:nvPr/>
        </p:nvSpPr>
        <p:spPr>
          <a:xfrm>
            <a:off x="4543425" y="5239512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4865" y="5330952"/>
            <a:ext cx="201168" cy="201168"/>
          </a:xfrm>
          <a:prstGeom prst="rect">
            <a:avLst/>
          </a:prstGeom>
        </p:spPr>
      </p:pic>
      <p:sp>
        <p:nvSpPr>
          <p:cNvPr id="51" name="Shape 33"/>
          <p:cNvSpPr/>
          <p:nvPr/>
        </p:nvSpPr>
        <p:spPr>
          <a:xfrm>
            <a:off x="6516243" y="5239512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5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7683" y="5330952"/>
            <a:ext cx="201168" cy="201168"/>
          </a:xfrm>
          <a:prstGeom prst="rect">
            <a:avLst/>
          </a:prstGeom>
        </p:spPr>
      </p:pic>
      <p:sp>
        <p:nvSpPr>
          <p:cNvPr id="53" name="Shape 34"/>
          <p:cNvSpPr/>
          <p:nvPr/>
        </p:nvSpPr>
        <p:spPr>
          <a:xfrm>
            <a:off x="8489061" y="5239512"/>
            <a:ext cx="384048" cy="384048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0501" y="5330952"/>
            <a:ext cx="201168" cy="201168"/>
          </a:xfrm>
          <a:prstGeom prst="rect">
            <a:avLst/>
          </a:prstGeom>
        </p:spPr>
      </p:pic>
      <p:sp>
        <p:nvSpPr>
          <p:cNvPr id="55" name="Shape 35"/>
          <p:cNvSpPr/>
          <p:nvPr/>
        </p:nvSpPr>
        <p:spPr>
          <a:xfrm>
            <a:off x="10461879" y="5239512"/>
            <a:ext cx="384048" cy="38404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53319" y="5330952"/>
            <a:ext cx="201168" cy="201168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have scale but no Khmer. Pirates are free but illegal and low-quality. We combine legal premium content, a native Khmer voice, and local payments — the full package.</a:t>
            </a:r>
            <a:endParaRPr lang="en-US" sz="1250" dirty="0"/>
          </a:p>
        </p:txBody>
      </p:sp>
      <p:sp>
        <p:nvSpPr>
          <p:cNvPr id="58" name="Text 3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59" name="Text 38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loudly — keep the content exclusive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24028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Trailers, not full titles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514600"/>
            <a:ext cx="3762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social media, TikTok clips and trailers to drive app installs — the movies themselves stay inside the app.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0256" y="224028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4231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05740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&amp; KOL launches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48956" y="2514600"/>
            <a:ext cx="3762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Cambodian creators and celebrities to voice titles and promote premieres to their audiences.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15" name="Shape 11"/>
          <p:cNvSpPr/>
          <p:nvPr/>
        </p:nvSpPr>
        <p:spPr>
          <a:xfrm>
            <a:off x="891540" y="434340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526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6052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&amp; wallet partnerships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617720"/>
            <a:ext cx="3762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mobile operators and payment wallets for distribution, easy billing and instant reach.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2A1A4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0256" y="4343400"/>
            <a:ext cx="868680" cy="86868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5262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16052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community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48956" y="4617720"/>
            <a:ext cx="37627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referral rewards and fan communities around hit series turn viewers into a growth engine.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clear, phased path to leadership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00200" y="2194560"/>
            <a:ext cx="8961120" cy="0"/>
          </a:xfrm>
          <a:prstGeom prst="line">
            <a:avLst/>
          </a:prstGeom>
          <a:noFill/>
          <a:ln w="38100">
            <a:solidFill>
              <a:srgbClr val="3A2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883664"/>
            <a:ext cx="621792" cy="6217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0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834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2A1A48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22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beta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7220" y="37033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first licenses, set up the voice-over studio pipeline, build the MVP app, launch a beta catalogue.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6344" y="1883664"/>
            <a:ext cx="621792" cy="6217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4276344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0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1380" y="2834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2A1A48"/>
          </a:solidFill>
          <a:ln/>
        </p:spPr>
      </p:sp>
      <p:sp>
        <p:nvSpPr>
          <p:cNvPr id="14" name="Text 12"/>
          <p:cNvSpPr/>
          <p:nvPr/>
        </p:nvSpPr>
        <p:spPr>
          <a:xfrm>
            <a:off x="360426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0426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launch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04260" y="37033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subscriptions + credits, integrate local wallets, reach the first 15K paying users.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3384" y="1883664"/>
            <a:ext cx="621792" cy="6217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3384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0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8420" y="2834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2A1A48"/>
          </a:solidFill>
          <a:ln/>
        </p:spPr>
      </p:sp>
      <p:sp>
        <p:nvSpPr>
          <p:cNvPr id="20" name="Text 18"/>
          <p:cNvSpPr/>
          <p:nvPr/>
        </p:nvSpPr>
        <p:spPr>
          <a:xfrm>
            <a:off x="65913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9130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91300" y="37033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the library, ramp influencer marketing, hit 60K+ paying users and a break-even trajectory.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250424" y="1883664"/>
            <a:ext cx="621792" cy="6217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50424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0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95460" y="2834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2A1A48"/>
          </a:solidFill>
          <a:ln/>
        </p:spPr>
      </p:sp>
      <p:sp>
        <p:nvSpPr>
          <p:cNvPr id="26" name="Text 24"/>
          <p:cNvSpPr/>
          <p:nvPr/>
        </p:nvSpPr>
        <p:spPr>
          <a:xfrm>
            <a:off x="957834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57834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&amp; expand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78340" y="37033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Khmer premium streaming at 180K+ users, add original productions, reach the Khmer diaspora.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who will build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92424" cy="3108960"/>
          </a:xfrm>
          <a:prstGeom prst="roundRect">
            <a:avLst>
              <a:gd name="adj" fmla="val 2941"/>
            </a:avLst>
          </a:prstGeom>
          <a:solidFill>
            <a:srgbClr val="2A1A48"/>
          </a:solidFill>
          <a:ln/>
        </p:spPr>
      </p:sp>
      <p:sp>
        <p:nvSpPr>
          <p:cNvPr id="5" name="Shape 3"/>
          <p:cNvSpPr/>
          <p:nvPr/>
        </p:nvSpPr>
        <p:spPr>
          <a:xfrm>
            <a:off x="1604772" y="2240280"/>
            <a:ext cx="1280160" cy="128016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40030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576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/ CEO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licensing relationships &amp; fundraising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8264" y="1965960"/>
            <a:ext cx="3392424" cy="3108960"/>
          </a:xfrm>
          <a:prstGeom prst="roundRect">
            <a:avLst>
              <a:gd name="adj" fmla="val 2941"/>
            </a:avLst>
          </a:prstGeom>
          <a:solidFill>
            <a:srgbClr val="2A1A48"/>
          </a:solidFill>
          <a:ln/>
        </p:spPr>
      </p:sp>
      <p:sp>
        <p:nvSpPr>
          <p:cNvPr id="11" name="Shape 8"/>
          <p:cNvSpPr/>
          <p:nvPr/>
        </p:nvSpPr>
        <p:spPr>
          <a:xfrm>
            <a:off x="5454396" y="2240280"/>
            <a:ext cx="1280160" cy="128016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400300"/>
            <a:ext cx="960120" cy="960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6576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81144" y="39776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Content &amp; Voice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26864" y="44348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pipeline, talent &amp; Khmer dub quality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47888" y="1965960"/>
            <a:ext cx="3392424" cy="3108960"/>
          </a:xfrm>
          <a:prstGeom prst="roundRect">
            <a:avLst>
              <a:gd name="adj" fmla="val 2941"/>
            </a:avLst>
          </a:prstGeom>
          <a:solidFill>
            <a:srgbClr val="2A1A48"/>
          </a:solidFill>
          <a:ln/>
        </p:spPr>
      </p:sp>
      <p:sp>
        <p:nvSpPr>
          <p:cNvPr id="17" name="Shape 13"/>
          <p:cNvSpPr/>
          <p:nvPr/>
        </p:nvSpPr>
        <p:spPr>
          <a:xfrm>
            <a:off x="9304020" y="2240280"/>
            <a:ext cx="1280160" cy="1280160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400300"/>
            <a:ext cx="960120" cy="9601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36576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30768" y="397764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Product / Tech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76488" y="443484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payments &amp; platform engineering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founder's name, photo and one line of relevant experience. Investors back people first — make this slide specific and credible.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0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raising — and where it goes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2A1A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[ amount ]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3703320"/>
            <a:ext cx="292608" cy="29260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776472"/>
            <a:ext cx="146304" cy="146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content licensing &amp; the Khmer voice-over studio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50976" y="4178808"/>
            <a:ext cx="292608" cy="29260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251960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launch the app with local payments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50976" y="4654296"/>
            <a:ext cx="292608" cy="29260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727448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6085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our first paying subscribers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50976" y="5129784"/>
            <a:ext cx="292608" cy="292608"/>
          </a:xfrm>
          <a:prstGeom prst="ellipse">
            <a:avLst/>
          </a:prstGeom>
          <a:solidFill>
            <a:srgbClr val="3A256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029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084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~18 months of runway to key milestones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126480" y="16002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Text 14"/>
          <p:cNvSpPr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</a:t>
            </a:r>
            <a:pPr algn="l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Pitch   ·   Confidential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11091672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0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4" name="Shape 2"/>
          <p:cNvSpPr/>
          <p:nvPr/>
        </p:nvSpPr>
        <p:spPr>
          <a:xfrm>
            <a:off x="1847088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5" name="Shape 3"/>
          <p:cNvSpPr/>
          <p:nvPr/>
        </p:nvSpPr>
        <p:spPr>
          <a:xfrm>
            <a:off x="2542032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6" name="Shape 4"/>
          <p:cNvSpPr/>
          <p:nvPr/>
        </p:nvSpPr>
        <p:spPr>
          <a:xfrm>
            <a:off x="3236976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8" name="Shape 6"/>
          <p:cNvSpPr/>
          <p:nvPr/>
        </p:nvSpPr>
        <p:spPr>
          <a:xfrm>
            <a:off x="4626864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9" name="Shape 7"/>
          <p:cNvSpPr/>
          <p:nvPr/>
        </p:nvSpPr>
        <p:spPr>
          <a:xfrm>
            <a:off x="5321808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0" name="Shape 8"/>
          <p:cNvSpPr/>
          <p:nvPr/>
        </p:nvSpPr>
        <p:spPr>
          <a:xfrm>
            <a:off x="6016752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1" name="Shape 9"/>
          <p:cNvSpPr/>
          <p:nvPr/>
        </p:nvSpPr>
        <p:spPr>
          <a:xfrm>
            <a:off x="6711696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4" name="Shape 12"/>
          <p:cNvSpPr/>
          <p:nvPr/>
        </p:nvSpPr>
        <p:spPr>
          <a:xfrm>
            <a:off x="8796528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491472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86416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3A256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411480"/>
            <a:ext cx="566928" cy="822960"/>
          </a:xfrm>
          <a:prstGeom prst="roundRect">
            <a:avLst>
              <a:gd name="adj" fmla="val 8065"/>
            </a:avLst>
          </a:prstGeom>
          <a:solidFill>
            <a:srgbClr val="2A1A4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Khmer voice of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entertainment.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9B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Chamlak Movie makes the world's stories feel like they were made for Cambodia. Join us in building the category leader — from the very first title.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  </a:t>
            </a:r>
            <a:pPr algn="l" indent="0" marL="0">
              <a:buNone/>
            </a:pPr>
            <a:r>
              <a:rPr lang="en-US" sz="1400" dirty="0">
                <a:solidFill>
                  <a:srgbClr val="968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[ your email ]   ·  [ your phone ]   ·  [ website 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Chamlak Movie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Chamlak Movie</dc:creator>
  <cp:lastModifiedBy>Chamlak Movie</cp:lastModifiedBy>
  <cp:revision>1</cp:revision>
  <dcterms:created xsi:type="dcterms:W3CDTF">2026-08-01T08:54:09Z</dcterms:created>
  <dcterms:modified xsi:type="dcterms:W3CDTF">2026-08-01T08:54:09Z</dcterms:modified>
</cp:coreProperties>
</file>